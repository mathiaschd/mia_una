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81" r:id="rId5"/>
    <p:sldId id="284" r:id="rId6"/>
    <p:sldId id="280" r:id="rId7"/>
    <p:sldId id="278" r:id="rId8"/>
    <p:sldId id="310" r:id="rId9"/>
    <p:sldId id="293" r:id="rId10"/>
    <p:sldId id="295" r:id="rId11"/>
    <p:sldId id="302" r:id="rId12"/>
    <p:sldId id="298" r:id="rId13"/>
    <p:sldId id="300" r:id="rId14"/>
    <p:sldId id="296" r:id="rId15"/>
    <p:sldId id="309" r:id="rId16"/>
    <p:sldId id="301" r:id="rId17"/>
    <p:sldId id="297" r:id="rId18"/>
    <p:sldId id="303" r:id="rId19"/>
    <p:sldId id="304" r:id="rId20"/>
    <p:sldId id="305" r:id="rId21"/>
    <p:sldId id="306" r:id="rId22"/>
    <p:sldId id="307" r:id="rId23"/>
    <p:sldId id="308" r:id="rId24"/>
    <p:sldId id="282" r:id="rId2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879" autoAdjust="0"/>
  </p:normalViewPr>
  <p:slideViewPr>
    <p:cSldViewPr snapToGrid="0">
      <p:cViewPr varScale="1">
        <p:scale>
          <a:sx n="105" d="100"/>
          <a:sy n="105" d="100"/>
        </p:scale>
        <p:origin x="714" y="10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90" d="100"/>
          <a:sy n="90" d="100"/>
        </p:scale>
        <p:origin x="3024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600ACF4-F671-499E-B3EE-5998AB10BB58}" type="datetime1">
              <a:rPr lang="es-ES" smtClean="0"/>
              <a:t>30/05/2025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DC0790B-61F2-4298-9492-23FD7E045381}" type="datetime1">
              <a:rPr lang="es-ES" smtClean="0"/>
              <a:t>30/05/2025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55247812-3409-784D-BAE7-ABE53735D5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87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CB11-BF26-C445-411F-DD41F12A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6160AF-85C0-0EA3-CC90-F669069AE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877F5E-43B8-7EF4-BEC6-9A793C509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128B08-61D8-6173-3FCE-87FA92966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195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D536-730D-18CA-3C84-45736A6A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0A1002-E593-1FB9-9389-3542271D4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3C3299-9E53-26A4-05BF-192DD3282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6F749C-E167-2A91-A1DC-0BAE9B96B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466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3C54-8E92-6028-5D73-15601C17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C7294E-FF1C-9FDF-61A6-EAA708CA4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3738FD-8791-DE06-7A36-3981A798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05CF3A-86FB-4E79-5CFC-CEDA0F32D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1479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4031-553C-E782-1DDB-01545697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8E20E-1FAF-F4DA-71ED-68C245076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ED0847-41E6-E789-8C7D-DA00243B6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054A92-BCA5-179C-9811-2FE261579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307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3E0A-7480-3E27-B781-EEF8C8B2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638229-F61E-0907-A598-909875DB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ABA6C8-1AEC-A327-B028-1D6E4E055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5008A5-EA6F-6F73-799F-FB2550054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458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3213-4780-35A5-B523-0A31C493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E0F13C-6C7D-C89B-0416-DD7F7756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05089E-DB84-C9E9-F370-7578413F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651DCF-DE17-DE35-7B42-E72664DDF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996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6355-70EF-1837-4D8F-8D331E97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706CB5-494F-0A0E-45A4-2A08F86D5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004859-B8CB-3802-B56A-8B7921DBE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18F83-119B-58AE-7BDB-15607512A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308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19A5-E112-45AC-5404-605FAA64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E16C1F-EAC3-BBE7-CC99-8A70134E9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E08725-AF2F-D7D1-A516-A241E2D4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511054-EC62-23B9-7971-AEA0069F7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741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4AFD-5883-B0EB-FFF6-1340FAA7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F54D1A-8148-36A6-827F-099695C48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2678F0-ACC7-F4A6-BAB6-A2C2BADD0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9CDB46-46BC-687B-7FDE-20BAAC546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181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3AC-73AC-C7B1-F48D-B831B51E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8C28AA-0CD6-BE32-F952-F476C2D89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1D088F-0F4A-E359-C73D-8053AF931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D60FF-ECA2-5D90-0D37-8B7AC978B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02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7F7E-E9C1-2317-5421-32FF2202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D9334D-3AC3-8E7A-7B68-9B5C4B23E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7B2BBE-A495-412B-321E-3906E3C86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585181-983A-29F8-D3AE-BCAE7AF31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514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763-67DF-405F-456B-099AFE34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F777B2-686A-F95C-FF68-BADF3908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E3DC76-6B50-13BA-E3EC-8C6442184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5350FA-8BDD-BC6F-8218-BDC3B77CA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301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4103-B669-933D-B7A0-D7207763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26E3B0-54BD-6832-DA48-0E77C9117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890C0A-1783-C75C-316E-2C230C336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3B6482-6131-E4D1-C338-B6019EC2C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846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EC2B-2E27-9DA0-D3D0-EA68A61C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7664A7-2022-0C90-376B-90E55F58D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FE5F95-54A8-3319-EA70-E8DC6C5C5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187B14-15C1-D497-F189-5F7DFB20A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1765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4B27-3262-0AC1-E6C0-88104826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29E247-15E0-3A2F-902C-338D70610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00462B-1536-758D-22D2-0DFA97791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D2731D-7A06-CD6C-4AB6-15DF69261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291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6E1E-1B3C-47DA-506B-810DFA71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F14A72-575A-FBFD-DF1C-E689F3CAE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C1A2A2-C863-1A4F-70D8-6D8B65AA9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3BB832-9C53-D83C-2689-3DC6BE614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7078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5247812-3409-784D-BAE7-ABE53735D59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59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rtlCol="0" anchor="b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rtlCol="0" anchor="b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 rtlCol="0">
            <a:normAutofit/>
          </a:bodyPr>
          <a:lstStyle>
            <a:lvl1pPr marL="0" indent="0" algn="l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rtlCol="0" anchor="ctr" anchorCtr="0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rtlCol="0" anchor="ctr">
            <a:normAutofit/>
          </a:bodyPr>
          <a:lstStyle>
            <a:lvl1pPr marL="0" indent="0" algn="ctr">
              <a:buNone/>
              <a:defRPr lang="es-ES"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1C92E66-5A0A-4082-82B9-DF5FAE67E8B5}" type="datetime1">
              <a:rPr lang="es-ES" smtClean="0"/>
              <a:t>30/05/2025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lang="es-ES"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lang="es-ES"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lang="es-ES"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lang="es-ES"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7DFBD0-63BE-4151-A107-267781679748}" type="datetime1">
              <a:rPr lang="es-ES" smtClean="0"/>
              <a:t>30/05/2025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rtlCol="0" anchor="b" anchorCtr="0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2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en el icono para agregar una tabla</a:t>
            </a:r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26E8A77-02BA-4760-9B81-884EF78E193A}" type="datetime1">
              <a:rPr lang="es-ES" smtClean="0"/>
              <a:t>30/05/2025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BF3DE08-DDA1-43D4-9BF9-28DF5F838EFE}" type="datetime1">
              <a:rPr lang="es-ES" smtClean="0"/>
              <a:t>30/05/2025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2F1E67E-5A92-4F17-9C1E-9F84D664340B}" type="datetime1">
              <a:rPr lang="es-ES" smtClean="0"/>
              <a:t>30/05/2025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rtlCol="0" anchor="b">
            <a:noAutofit/>
          </a:bodyPr>
          <a:lstStyle>
            <a:lvl1pPr algn="ctr">
              <a:spcBef>
                <a:spcPts val="1000"/>
              </a:spcBef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 rtlCol="0">
            <a:normAutofit/>
          </a:bodyPr>
          <a:lstStyle>
            <a:lvl1pPr marL="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32B6C817-7778-4FFB-BB29-CD03A1C79E28}" type="datetime1">
              <a:rPr lang="es-ES" smtClean="0"/>
              <a:t>30/05/2025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imagen abstracta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Analysis of Agricultural Loans Granted by Banks in Paraguay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581390-15DC-2BB7-3E76-D83A7764D4EE}"/>
              </a:ext>
            </a:extLst>
          </p:cNvPr>
          <p:cNvSpPr txBox="1"/>
          <p:nvPr/>
        </p:nvSpPr>
        <p:spPr>
          <a:xfrm>
            <a:off x="5180620" y="5207168"/>
            <a:ext cx="21744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2000" b="1" dirty="0">
                <a:solidFill>
                  <a:schemeClr val="bg1"/>
                </a:solidFill>
              </a:rPr>
              <a:t>Pilar Ruiz Diaz</a:t>
            </a:r>
          </a:p>
          <a:p>
            <a:r>
              <a:rPr lang="es-PY" sz="2000" b="1" dirty="0" err="1">
                <a:solidFill>
                  <a:schemeClr val="bg1"/>
                </a:solidFill>
              </a:rPr>
              <a:t>Mathias</a:t>
            </a:r>
            <a:r>
              <a:rPr lang="es-PY" sz="2000" b="1" dirty="0">
                <a:solidFill>
                  <a:schemeClr val="bg1"/>
                </a:solidFill>
              </a:rPr>
              <a:t> Chaparro</a:t>
            </a:r>
          </a:p>
          <a:p>
            <a:r>
              <a:rPr lang="es-PY" sz="2000" b="1" dirty="0">
                <a:solidFill>
                  <a:schemeClr val="bg1"/>
                </a:solidFill>
              </a:rPr>
              <a:t>Tanya Godoy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b="1" dirty="0" err="1"/>
              <a:t>Chosen</a:t>
            </a:r>
            <a:r>
              <a:rPr lang="es-ES" b="1" dirty="0"/>
              <a:t> </a:t>
            </a:r>
            <a:r>
              <a:rPr lang="es-ES" b="1" dirty="0" err="1"/>
              <a:t>dataset</a:t>
            </a:r>
            <a:endParaRPr lang="es-ES" b="1" dirty="0"/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2" r="2492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b="1" dirty="0" err="1"/>
              <a:t>It</a:t>
            </a:r>
            <a:r>
              <a:rPr lang="es-ES" b="1" dirty="0"/>
              <a:t> </a:t>
            </a:r>
            <a:r>
              <a:rPr lang="es-ES" b="1" dirty="0" err="1"/>
              <a:t>contains</a:t>
            </a:r>
            <a:r>
              <a:rPr lang="es-ES" dirty="0"/>
              <a:t>: </a:t>
            </a:r>
            <a:r>
              <a:rPr lang="es-ES" dirty="0" err="1"/>
              <a:t>Agricultural</a:t>
            </a:r>
            <a:r>
              <a:rPr lang="es-ES" dirty="0"/>
              <a:t> </a:t>
            </a:r>
            <a:r>
              <a:rPr lang="es-ES" dirty="0" err="1"/>
              <a:t>Loans</a:t>
            </a:r>
            <a:r>
              <a:rPr lang="es-ES" dirty="0"/>
              <a:t> </a:t>
            </a:r>
            <a:r>
              <a:rPr lang="es-ES" dirty="0" err="1"/>
              <a:t>granted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Banks in Paraguay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b="1" dirty="0"/>
              <a:t>2016 </a:t>
            </a:r>
            <a:r>
              <a:rPr lang="es-ES" b="1" dirty="0" err="1"/>
              <a:t>to</a:t>
            </a:r>
            <a:r>
              <a:rPr lang="es-ES" b="1" dirty="0"/>
              <a:t> </a:t>
            </a:r>
            <a:r>
              <a:rPr lang="es-ES" b="1" dirty="0" err="1"/>
              <a:t>march</a:t>
            </a:r>
            <a:r>
              <a:rPr lang="es-ES" b="1" dirty="0"/>
              <a:t>/2025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primer plano de código informático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Exploratory Data Analysis and General Visualizations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Total </a:t>
            </a:r>
            <a:r>
              <a:rPr lang="es-ES" dirty="0" err="1"/>
              <a:t>credits</a:t>
            </a:r>
            <a:r>
              <a:rPr lang="es-ES" dirty="0"/>
              <a:t> </a:t>
            </a:r>
            <a:r>
              <a:rPr lang="es-ES" dirty="0" err="1"/>
              <a:t>granted</a:t>
            </a:r>
            <a:r>
              <a:rPr lang="es-ES" dirty="0"/>
              <a:t> per </a:t>
            </a:r>
            <a:r>
              <a:rPr lang="es-ES" dirty="0" err="1"/>
              <a:t>year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35D5E0-C023-BF12-7240-1709ABBB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03" y="885825"/>
            <a:ext cx="11325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CAD2-1783-DC70-090E-BA667A73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C9210876-D85C-2066-C078-7AF49084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Soybean harvest calendar obtained from a local private bank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8BB5C7-A07E-84C3-A3B9-782BE337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5" y="1771630"/>
            <a:ext cx="11175482" cy="455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8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1A4C-0593-6B3E-F0A0-F753BAF7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A1D87AE6-0860-8DBE-B6A2-7E01E3A3A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316" y="3083560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Total </a:t>
            </a:r>
            <a:r>
              <a:rPr lang="es-ES" dirty="0" err="1"/>
              <a:t>credits</a:t>
            </a:r>
            <a:r>
              <a:rPr lang="es-ES" dirty="0"/>
              <a:t> </a:t>
            </a:r>
            <a:r>
              <a:rPr lang="es-ES" dirty="0" err="1"/>
              <a:t>granted</a:t>
            </a:r>
            <a:r>
              <a:rPr lang="es-ES" dirty="0"/>
              <a:t> per </a:t>
            </a:r>
            <a:r>
              <a:rPr lang="es-ES" dirty="0" err="1"/>
              <a:t>bank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BB394C-2D8B-D566-B766-8C87A415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59" y="0"/>
            <a:ext cx="5482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3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2632-A8CD-A990-2369-7731A66D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3B45C25A-8B88-5719-1029-295E85A37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Agricultural Loans by Currency: Local vs. Foreign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076387-D874-E89C-A495-E1E9EFE0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8278"/>
            <a:ext cx="12192000" cy="416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2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B2EA-F92B-5BB6-5165-0021B511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primer plano de código informático">
            <a:extLst>
              <a:ext uri="{FF2B5EF4-FFF2-40B4-BE49-F238E27FC236}">
                <a16:creationId xmlns:a16="http://schemas.microsoft.com/office/drawing/2014/main" id="{AB150F93-0B26-4AFF-C4FB-1B9A61D78A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F792493-957B-6F22-D4BC-9A79810DD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Pandemic effect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753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737A-EABE-88E8-7247-6F1C5CDC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A8417EC5-9FC3-B9B4-0FDC-5F2447A7B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n-US" dirty="0" err="1"/>
              <a:t>PaNdemic</a:t>
            </a:r>
            <a:r>
              <a:rPr lang="en-US" dirty="0"/>
              <a:t> effect on foreign currency loans</a:t>
            </a:r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9ABC41-B5C7-209E-9925-DDD55A0B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7" y="1328738"/>
            <a:ext cx="953452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52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D6C7-DE89-9DF7-6E0A-C634A5A2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primer plano de código informático">
            <a:extLst>
              <a:ext uri="{FF2B5EF4-FFF2-40B4-BE49-F238E27FC236}">
                <a16:creationId xmlns:a16="http://schemas.microsoft.com/office/drawing/2014/main" id="{D4A4A4F1-DD5E-AEF7-60F5-4F2294FD5C7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75CD322-8968-65AF-88BC-BA9ACA2FA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Time Series Decomposition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935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FCB26-EC66-8FB6-F2C2-3986701C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9801E51D-754D-D13E-13CF-E2878D314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Trend, Seasonality, and Residuals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6D8146-95DC-92B4-0D09-7791B26C1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3487"/>
            <a:ext cx="5991225" cy="45243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300D101-85E7-EC11-96A9-4539AF126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03487"/>
            <a:ext cx="599122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98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A3F9-0DBE-A15A-FF2F-762E9D0F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4725F433-D29E-21DF-4230-346D82492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Trend, Seasonality, and Residuals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17C003-5BDF-49EB-21BD-5CB9FB7EA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25" y="1946888"/>
            <a:ext cx="9782250" cy="26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1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466F-DFF9-748C-C022-0409133E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primer plano de código informático">
            <a:extLst>
              <a:ext uri="{FF2B5EF4-FFF2-40B4-BE49-F238E27FC236}">
                <a16:creationId xmlns:a16="http://schemas.microsoft.com/office/drawing/2014/main" id="{6BC7A3A8-1BBF-F4A8-706E-E88876E441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BFAF72A-9CB1-8E7C-B22B-92B77B8F7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 err="1"/>
              <a:t>Acf</a:t>
            </a:r>
            <a:r>
              <a:rPr lang="en-US" dirty="0"/>
              <a:t> &amp; </a:t>
            </a:r>
            <a:r>
              <a:rPr lang="en-US" dirty="0" err="1"/>
              <a:t>pacf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7101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427D-E3F5-D38E-EC55-AAA3119B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89770538-667F-AA26-DAAA-3C09AA5F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0638" y="530136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 err="1"/>
              <a:t>Acf</a:t>
            </a:r>
            <a:r>
              <a:rPr lang="en-US" dirty="0"/>
              <a:t> &amp; </a:t>
            </a:r>
            <a:r>
              <a:rPr lang="en-US" dirty="0" err="1"/>
              <a:t>pacf</a:t>
            </a:r>
            <a:r>
              <a:rPr lang="en-US" dirty="0"/>
              <a:t> for foreign currency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917BF4E-26D1-5055-1CC5-D98529105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8"/>
          <a:stretch/>
        </p:blipFill>
        <p:spPr>
          <a:xfrm>
            <a:off x="0" y="1793332"/>
            <a:ext cx="12192000" cy="403041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76CA7DA-88F3-7E37-F385-36957118F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30" y="1793332"/>
            <a:ext cx="11936896" cy="391538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7EF8B4E1-DA0F-DDD2-6C2A-29DD71B95C64}"/>
              </a:ext>
            </a:extLst>
          </p:cNvPr>
          <p:cNvSpPr/>
          <p:nvPr/>
        </p:nvSpPr>
        <p:spPr>
          <a:xfrm>
            <a:off x="3842039" y="3346578"/>
            <a:ext cx="219076" cy="923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28E8BB-7B49-B9DD-94AE-B4305557F935}"/>
              </a:ext>
            </a:extLst>
          </p:cNvPr>
          <p:cNvSpPr/>
          <p:nvPr/>
        </p:nvSpPr>
        <p:spPr>
          <a:xfrm>
            <a:off x="9782175" y="3305175"/>
            <a:ext cx="219075" cy="923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7" grpId="0" animBg="1"/>
      <p:bldP spid="1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1738E-D2D7-8908-A7A2-4D6E3EAB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7" descr="primer plano de código informático">
            <a:extLst>
              <a:ext uri="{FF2B5EF4-FFF2-40B4-BE49-F238E27FC236}">
                <a16:creationId xmlns:a16="http://schemas.microsoft.com/office/drawing/2014/main" id="{046388CB-E7E4-688B-8D72-7414C6DDCD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BCB0177-3126-1D26-B093-7A4951ABA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forecasting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8462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3AD0-C2BB-F000-99A6-82522F85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1EBDFB09-1E90-E023-A089-E7D061A3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4938" y="254608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Y" dirty="0"/>
              <a:t>A</a:t>
            </a:r>
            <a:r>
              <a:rPr lang="en-US" dirty="0"/>
              <a:t>rima model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253E8B-BD8B-104B-62D7-1469529A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465" y="1417412"/>
            <a:ext cx="7039896" cy="36495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A44A5D-6064-44C2-226D-962CBAD49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465" y="5066962"/>
            <a:ext cx="4702072" cy="57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48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D6A4-F548-740D-DF0B-6D764E56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861AC1A7-F27F-420D-F5EA-7EDB865BF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4938" y="254608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Y" dirty="0"/>
              <a:t>A</a:t>
            </a:r>
            <a:r>
              <a:rPr lang="en-US" dirty="0"/>
              <a:t>rima model forecast</a:t>
            </a:r>
            <a:endParaRPr lang="es-E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FE3900-00EB-1D56-FF1A-5612AD85A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36" y="1084966"/>
            <a:ext cx="11621728" cy="577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542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CF7C-C2F8-A219-6F2D-30F9311F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4388C6AD-998E-A0BE-E98B-AEE7A32D7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4938" y="254608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Y" dirty="0" err="1"/>
              <a:t>sA</a:t>
            </a:r>
            <a:r>
              <a:rPr lang="en-US" dirty="0"/>
              <a:t>rima model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2589D24-ED1A-1B6D-81FD-F3F976016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434" y="1267332"/>
            <a:ext cx="9117724" cy="54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36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5DCD-E607-050A-625B-3CBE5C53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B8AD8299-95FF-610E-0F8A-203FD9238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6581" y="0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Y" dirty="0" err="1"/>
              <a:t>sA</a:t>
            </a:r>
            <a:r>
              <a:rPr lang="en-US" dirty="0"/>
              <a:t>rima model forecast</a:t>
            </a:r>
            <a:endParaRPr lang="es-E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059327-FEAC-6749-E3A5-6623B349E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24" y="947226"/>
            <a:ext cx="11651596" cy="578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673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C563-5512-DA4D-647F-40F51B0FC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ítulo 14">
            <a:extLst>
              <a:ext uri="{FF2B5EF4-FFF2-40B4-BE49-F238E27FC236}">
                <a16:creationId xmlns:a16="http://schemas.microsoft.com/office/drawing/2014/main" id="{B6F0CBD9-033B-190A-2025-079F0572E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6581" y="0"/>
            <a:ext cx="6088716" cy="69088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Y" dirty="0" err="1"/>
              <a:t>sA</a:t>
            </a:r>
            <a:r>
              <a:rPr lang="en-US" dirty="0"/>
              <a:t>rima model forecast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FED1051-6544-A51B-E9C8-67427255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1393825"/>
            <a:ext cx="11722100" cy="407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57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1" descr="Un primer plano de punto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798" y="2049671"/>
            <a:ext cx="9467127" cy="252791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in32_SL_V16" id="{C08B0D31-9878-4B86-9AA2-489D9D63805D}" vid="{DECC9CCA-8386-4D88-B03D-E024FA4FDFC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254</TotalTime>
  <Words>143</Words>
  <Application>Microsoft Office PowerPoint</Application>
  <PresentationFormat>Panorámica</PresentationFormat>
  <Paragraphs>46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Wingdings</vt:lpstr>
      <vt:lpstr>Personalizar</vt:lpstr>
      <vt:lpstr>Analysis of Agricultural Loans Granted by Banks in Paraguay</vt:lpstr>
      <vt:lpstr>Chosen dataset</vt:lpstr>
      <vt:lpstr>Exploratory Data Analysis and General Visualizations</vt:lpstr>
      <vt:lpstr>Presentación de PowerPoint</vt:lpstr>
      <vt:lpstr>Presentación de PowerPoint</vt:lpstr>
      <vt:lpstr>Presentación de PowerPoint</vt:lpstr>
      <vt:lpstr>Presentación de PowerPoint</vt:lpstr>
      <vt:lpstr>Pandemic effect</vt:lpstr>
      <vt:lpstr>Presentación de PowerPoint</vt:lpstr>
      <vt:lpstr>Time Series Decomposition</vt:lpstr>
      <vt:lpstr>Presentación de PowerPoint</vt:lpstr>
      <vt:lpstr>Presentación de PowerPoint</vt:lpstr>
      <vt:lpstr>Acf &amp; pacf</vt:lpstr>
      <vt:lpstr>Presentación de PowerPoint</vt:lpstr>
      <vt:lpstr>forecasting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Tanya Godoy</dc:creator>
  <cp:lastModifiedBy>Mathias Chaparro</cp:lastModifiedBy>
  <cp:revision>6</cp:revision>
  <dcterms:created xsi:type="dcterms:W3CDTF">2024-02-14T18:56:44Z</dcterms:created>
  <dcterms:modified xsi:type="dcterms:W3CDTF">2025-05-30T21:41:29Z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