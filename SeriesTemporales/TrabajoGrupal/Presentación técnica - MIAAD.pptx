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81" r:id="rId5"/>
    <p:sldId id="284" r:id="rId6"/>
    <p:sldId id="280" r:id="rId7"/>
    <p:sldId id="278" r:id="rId8"/>
    <p:sldId id="310" r:id="rId9"/>
    <p:sldId id="293" r:id="rId10"/>
    <p:sldId id="295" r:id="rId11"/>
    <p:sldId id="302" r:id="rId12"/>
    <p:sldId id="298" r:id="rId13"/>
    <p:sldId id="300" r:id="rId14"/>
    <p:sldId id="296" r:id="rId15"/>
    <p:sldId id="309" r:id="rId16"/>
    <p:sldId id="301" r:id="rId17"/>
    <p:sldId id="297" r:id="rId18"/>
    <p:sldId id="303" r:id="rId19"/>
    <p:sldId id="304" r:id="rId20"/>
    <p:sldId id="305" r:id="rId21"/>
    <p:sldId id="306" r:id="rId22"/>
    <p:sldId id="307" r:id="rId23"/>
    <p:sldId id="308" r:id="rId24"/>
    <p:sldId id="282" r:id="rId25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85" autoAdjust="0"/>
    <p:restoredTop sz="94879" autoAdjust="0"/>
  </p:normalViewPr>
  <p:slideViewPr>
    <p:cSldViewPr snapToGrid="0">
      <p:cViewPr varScale="1">
        <p:scale>
          <a:sx n="104" d="100"/>
          <a:sy n="104" d="100"/>
        </p:scale>
        <p:origin x="132" y="126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90" d="100"/>
          <a:sy n="90" d="100"/>
        </p:scale>
        <p:origin x="3024" y="3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3600ACF4-F671-499E-B3EE-5998AB10BB58}" type="datetime1">
              <a:rPr lang="es-ES" smtClean="0"/>
              <a:t>30/05/2025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EF757874-EF65-4B61-B062-40C932C8129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ADC0790B-61F2-4298-9492-23FD7E045381}" type="datetime1">
              <a:rPr lang="es-ES" smtClean="0"/>
              <a:t>30/05/2025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55247812-3409-784D-BAE7-ABE53735D59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6875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23A35-1FA6-84F9-C9C9-8EFD760A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67CDB01-A300-500A-E9FF-5021D5B21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3B90371-6E13-9BA6-3274-E7DFC0AA8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DD689E-823E-FB48-22C9-BEE63C553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72940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95017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45011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CB11-BF26-C445-411F-DD41F12A2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D6160AF-85C0-0EA3-CC90-F669069AE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C877F5E-43B8-7EF4-BEC6-9A793C509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128B08-61D8-6173-3FCE-87FA92966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91953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0D536-730D-18CA-3C84-45736A6A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40A1002-E593-1FB9-9389-3542271D4F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33C3299-9E53-26A4-05BF-192DD32827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6F749C-E167-2A91-A1DC-0BAE9B96BB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646628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53C54-8E92-6028-5D73-15601C17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6C7294E-FF1C-9FDF-61A6-EAA708CA4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63738FD-8791-DE06-7A36-3981A7980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05CF3A-86FB-4E79-5CFC-CEDA0F32DB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14792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4031-553C-E782-1DDB-01545697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8E20E-1FAF-F4DA-71ED-68C245076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CED0847-41E6-E789-8C7D-DA00243B6C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054A92-BCA5-179C-9811-2FE2615798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3075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33E0A-7480-3E27-B781-EEF8C8B2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E638229-F61E-0907-A598-909875DB8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7ABA6C8-1AEC-A327-B028-1D6E4E055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25008A5-EA6F-6F73-799F-FB25500541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1458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33213-4780-35A5-B523-0A31C4938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BE0F13C-6C7D-C89B-0416-DD7F7756F8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D05089E-DB84-C9E9-F370-7578413F7E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651DCF-DE17-DE35-7B42-E72664DDF0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839962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B6355-70EF-1837-4D8F-8D331E97F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8706CB5-494F-0A0E-45A4-2A08F86D5F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0004859-B8CB-3802-B56A-8B7921DBE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3E18F83-119B-58AE-7BDB-15607512AE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53083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119A5-E112-45AC-5404-605FAA64A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3E16C1F-EAC3-BBE7-CC99-8A70134E9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5E08725-AF2F-D7D1-A516-A241E2D451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4511054-EC62-23B9-7971-AEA0069F7C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327411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4AFD-5883-B0EB-FFF6-1340FAA79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DF54D1A-8148-36A6-827F-099695C48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2678F0-ACC7-F4A6-BAB6-A2C2BADD0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9CDB46-46BC-687B-7FDE-20BAAC5465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221814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AD3AC-73AC-C7B1-F48D-B831B51E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08C28AA-0CD6-BE32-F952-F476C2D89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91D088F-0F4A-E359-C73D-8053AF931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7AD60FF-ECA2-5D90-0D37-8B7AC978B1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020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07F7E-E9C1-2317-5421-32FF2202F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D9334D-3AC3-8E7A-7B68-9B5C4B23E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07B2BBE-A495-412B-321E-3906E3C86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8585181-983A-29F8-D3AE-BCAE7AF31A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85143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0763-67DF-405F-456B-099AFE343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5F777B2-686A-F95C-FF68-BADF3908F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CE3DC76-6B50-13BA-E3EC-8C6442184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E5350FA-8BDD-BC6F-8218-BDC3B77CA1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23015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04103-B669-933D-B7A0-D7207763F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E26E3B0-54BD-6832-DA48-0E77C9117A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9890C0A-1783-C75C-316E-2C230C336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3B6482-6131-E4D1-C338-B6019EC2C5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18465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5EC2B-2E27-9DA0-D3D0-EA68A61CC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A7664A7-2022-0C90-376B-90E55F58D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CFE5F95-54A8-3319-EA70-E8DC6C5C5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187B14-15C1-D497-F189-5F7DFB20A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01765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44B27-3262-0AC1-E6C0-881048261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829E247-15E0-3A2F-902C-338D706108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500462B-1536-758D-22D2-0DFA97791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ED2731D-7A06-CD6C-4AB6-15DF692617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2911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66E1E-1B3C-47DA-506B-810DFA71F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EF14A72-575A-FBFD-DF1C-E689F3CAE1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7C1A2A2-C863-1A4F-70D8-6D8B65AA9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F3BB832-9C53-D83C-2689-3DC6BE614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70780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0596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rtlCol="0" anchor="ctr" anchorCtr="0">
            <a:noAutofit/>
          </a:bodyPr>
          <a:lstStyle>
            <a:lvl1pPr algn="ctr">
              <a:defRPr lang="es-ES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2816" y="457200"/>
            <a:ext cx="4837176" cy="1993392"/>
          </a:xfrm>
        </p:spPr>
        <p:txBody>
          <a:bodyPr rtlCol="0" anchor="b">
            <a:no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6B8CBAD6-FC79-B2BB-0B67-26429A6D4C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8882" y="0"/>
            <a:ext cx="6115050" cy="6858000"/>
          </a:xfrm>
          <a:prstGeom prst="parallelogram">
            <a:avLst/>
          </a:prstGeom>
          <a:ln>
            <a:noFill/>
          </a:ln>
        </p:spPr>
        <p:txBody>
          <a:bodyPr tIns="0"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2818" y="2752344"/>
            <a:ext cx="4837174" cy="3136392"/>
          </a:xfrm>
        </p:spPr>
        <p:txBody>
          <a:bodyPr rtlCol="0" anchor="t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lang="es-ES" sz="1800" cap="all" spc="300" baseline="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lang="es-ES" sz="1800" cap="all" spc="300" baseline="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lang="es-ES" sz="1800" cap="all" spc="300" baseline="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lang="es-ES" sz="1800" cap="all" spc="300" baseline="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lang="es-ES" sz="1800" cap="all" spc="300" baseline="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34796A3-781D-5244-DAB8-2D6EE0AC3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817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+ subtítulo +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rtlCol="0" anchor="b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12" name="Marcador de posición de imagen 11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 rtlCol="0">
            <a:normAutofit/>
          </a:bodyPr>
          <a:lstStyle>
            <a:lvl1pPr marL="0" indent="0" algn="l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lvl="0" rtl="0"/>
            <a:r>
              <a:rPr lang="es-ES"/>
              <a:t>Haga clic para agregar un subtítulo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2425" y="466344"/>
            <a:ext cx="6241651" cy="1710354"/>
          </a:xfrm>
        </p:spPr>
        <p:txBody>
          <a:bodyPr bIns="0" rtlCol="0" anchor="ctr" anchorCtr="0">
            <a:no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511A5385-FB23-93A8-2B8F-9887244244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287838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242426" y="2286000"/>
            <a:ext cx="6241650" cy="3474720"/>
          </a:xfrm>
        </p:spPr>
        <p:txBody>
          <a:bodyPr rtlCol="0"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+ 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rtlCol="0" anchor="b">
            <a:noAutofit/>
          </a:bodyPr>
          <a:lstStyle>
            <a:lvl1pPr algn="ctr">
              <a:defRPr lang="es-ES" sz="48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lvl="0" rtl="0"/>
            <a:r>
              <a:rPr lang="es-ES"/>
              <a:t>Haga clic para agregar un subtítulo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29577E27-B60E-C6DD-BAAF-5CCC3D59E5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rtlCol="0" anchor="ctr" anchorCtr="0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contenido 10">
            <a:extLst>
              <a:ext uri="{FF2B5EF4-FFF2-40B4-BE49-F238E27FC236}">
                <a16:creationId xmlns:a16="http://schemas.microsoft.com/office/drawing/2014/main" id="{964CA031-27E0-D0AA-1451-A904CCF234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199" y="2024781"/>
            <a:ext cx="5212079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2" name="Marcador de contenido 10">
            <a:extLst>
              <a:ext uri="{FF2B5EF4-FFF2-40B4-BE49-F238E27FC236}">
                <a16:creationId xmlns:a16="http://schemas.microsoft.com/office/drawing/2014/main" id="{81FE0D7D-86B7-CCD2-A7A1-70E95846B5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A1C92E66-5A0A-4082-82B9-DF5FAE67E8B5}" type="datetime1">
              <a:rPr lang="es-ES" smtClean="0"/>
              <a:t>30/05/2025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rtlCol="0" anchor="ctr" anchorCtr="0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2D2DE411-9D7C-15AE-0B59-F26B2BF8C52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2024781"/>
            <a:ext cx="2878394" cy="4137189"/>
          </a:xfrm>
        </p:spPr>
        <p:txBody>
          <a:bodyPr rtlCol="0">
            <a:normAutofit/>
          </a:bodyPr>
          <a:lstStyle>
            <a:lvl1pPr marL="3429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eriod"/>
              <a:defRPr lang="es-ES" sz="1800">
                <a:latin typeface="+mn-lt"/>
              </a:defRPr>
            </a:lvl1pPr>
            <a:lvl2pPr marL="8001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eriod"/>
              <a:defRPr lang="es-ES" sz="1800">
                <a:latin typeface="+mn-lt"/>
              </a:defRPr>
            </a:lvl2pPr>
            <a:lvl3pPr marL="12573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arenR"/>
              <a:defRPr lang="es-ES" sz="1800">
                <a:latin typeface="+mn-lt"/>
              </a:defRPr>
            </a:lvl3pPr>
            <a:lvl4pPr marL="17145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arenR"/>
              <a:defRPr lang="es-ES" sz="1800">
                <a:latin typeface="+mn-lt"/>
              </a:defRPr>
            </a:lvl4pPr>
            <a:lvl5pPr marL="2057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</p:txBody>
      </p:sp>
      <p:sp>
        <p:nvSpPr>
          <p:cNvPr id="4" name="Marcador de contenido 10">
            <a:extLst>
              <a:ext uri="{FF2B5EF4-FFF2-40B4-BE49-F238E27FC236}">
                <a16:creationId xmlns:a16="http://schemas.microsoft.com/office/drawing/2014/main" id="{60FEDE7C-502F-ECFE-4136-E99206849C2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A87DFBD0-63BE-4151-A107-267781679748}" type="datetime1">
              <a:rPr lang="es-ES" smtClean="0"/>
              <a:t>30/05/2025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+ image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</p:spPr>
        <p:txBody>
          <a:bodyPr rtlCol="0" anchor="b" anchorCtr="0">
            <a:no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modificar el estilo de título del patrón</a:t>
            </a:r>
          </a:p>
        </p:txBody>
      </p:sp>
      <p:sp>
        <p:nvSpPr>
          <p:cNvPr id="4" name="Marcador de contenido 10">
            <a:extLst>
              <a:ext uri="{FF2B5EF4-FFF2-40B4-BE49-F238E27FC236}">
                <a16:creationId xmlns:a16="http://schemas.microsoft.com/office/drawing/2014/main" id="{5F30E2A0-23EF-51B1-8ABD-00429EEA06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8200" y="2257063"/>
            <a:ext cx="4894006" cy="3904906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1" name="Marcador de posición de imagen 10">
            <a:extLst>
              <a:ext uri="{FF2B5EF4-FFF2-40B4-BE49-F238E27FC236}">
                <a16:creationId xmlns:a16="http://schemas.microsoft.com/office/drawing/2014/main" id="{AF15552F-C66B-341F-2D37-0389710BA5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00938" y="-22225"/>
            <a:ext cx="4714875" cy="68802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D8DCC6D-8B88-7BE0-7240-F743AE09E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814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+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rtlCol="0" anchor="ctr" anchorCtr="0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4" name="Marcador de contenido 10">
            <a:extLst>
              <a:ext uri="{FF2B5EF4-FFF2-40B4-BE49-F238E27FC236}">
                <a16:creationId xmlns:a16="http://schemas.microsoft.com/office/drawing/2014/main" id="{9C3ED3BF-FF6B-07FA-72C4-F6102A8558A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96074" y="2106591"/>
            <a:ext cx="2067045" cy="3633787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6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4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4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2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8" name="Marcador de posición de tabla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83980" y="2106591"/>
            <a:ext cx="7869820" cy="401671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Haga clic en el icono para agregar una tabla</a:t>
            </a:r>
            <a:endParaRPr lang="es-ES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026E8A77-02BA-4760-9B81-884EF78E193A}" type="datetime1">
              <a:rPr lang="es-ES" smtClean="0"/>
              <a:t>30/05/2025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rtlCol="0" anchor="ctr" anchorCtr="0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contenido 10">
            <a:extLst>
              <a:ext uri="{FF2B5EF4-FFF2-40B4-BE49-F238E27FC236}">
                <a16:creationId xmlns:a16="http://schemas.microsoft.com/office/drawing/2014/main" id="{A524C1E0-92FE-D7D2-83A7-46D29A83887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38200" y="1790329"/>
            <a:ext cx="5134335" cy="4113054"/>
          </a:xfrm>
        </p:spPr>
        <p:txBody>
          <a:bodyPr rtlCol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427E0367-8E38-8905-DC9A-D0C376A591A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19464" y="1790329"/>
            <a:ext cx="5134335" cy="4113054"/>
          </a:xfrm>
        </p:spPr>
        <p:txBody>
          <a:bodyPr rtlCol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3D847DE-29F2-8ABB-1718-34BED4F377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EBF3DE08-DDA1-43D4-9BF9-28DF5F838EFE}" type="datetime1">
              <a:rPr lang="es-ES" smtClean="0"/>
              <a:t>30/05/2025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posición de tabla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13186" y="2107800"/>
            <a:ext cx="10965628" cy="3920196"/>
          </a:xfrm>
        </p:spPr>
        <p:txBody>
          <a:bodyPr rtlCol="0"/>
          <a:lstStyle>
            <a:lvl1pPr>
              <a:defRPr lang="es-ES"/>
            </a:lvl1pPr>
          </a:lstStyle>
          <a:p>
            <a:pPr rtl="0"/>
            <a:r>
              <a:rPr lang="es-ES"/>
              <a:t>Haga clic en el icono para agregar una tabla</a:t>
            </a:r>
            <a:endParaRPr lang="es-ES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A2F1E67E-5A92-4F17-9C1E-9F84D664340B}" type="datetime1">
              <a:rPr lang="es-ES" smtClean="0"/>
              <a:t>30/05/2025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posición de imagen 11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 algn="ctr">
              <a:buNone/>
              <a:defRPr lang="es-ES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rtlCol="0" anchor="b">
            <a:noAutofit/>
          </a:bodyPr>
          <a:lstStyle>
            <a:lvl1pPr algn="ctr">
              <a:spcBef>
                <a:spcPts val="1000"/>
              </a:spcBef>
              <a:defRPr lang="es-ES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075" y="3738622"/>
            <a:ext cx="9467850" cy="2527911"/>
          </a:xfrm>
        </p:spPr>
        <p:txBody>
          <a:bodyPr rtlCol="0">
            <a:normAutofit/>
          </a:bodyPr>
          <a:lstStyle>
            <a:lvl1pPr marL="0" indent="0" algn="ctr">
              <a:spcBef>
                <a:spcPts val="1000"/>
              </a:spcBef>
              <a:buNone/>
              <a:defRPr lang="es-ES"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lang="es-ES"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lang="es-ES"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lang="es-ES"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lang="es-ES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-ES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fld id="{32B6C817-7778-4FFB-BB29-CD03A1C79E28}" type="datetime1">
              <a:rPr lang="es-ES" smtClean="0"/>
              <a:t>30/05/2025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9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"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imagen abstracta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52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ítulo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Analysis of Agricultural Loans Granted by Banks in Paraguay</a:t>
            </a:r>
            <a:endParaRPr lang="es-ES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5581390-15DC-2BB7-3E76-D83A7764D4EE}"/>
              </a:ext>
            </a:extLst>
          </p:cNvPr>
          <p:cNvSpPr txBox="1"/>
          <p:nvPr/>
        </p:nvSpPr>
        <p:spPr>
          <a:xfrm>
            <a:off x="5180620" y="5207168"/>
            <a:ext cx="21744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Y" sz="2000" b="1" dirty="0">
                <a:solidFill>
                  <a:schemeClr val="bg1"/>
                </a:solidFill>
              </a:rPr>
              <a:t>Pilar Ruiz Diaz</a:t>
            </a:r>
          </a:p>
          <a:p>
            <a:r>
              <a:rPr lang="es-PY" sz="2000" b="1" dirty="0" err="1">
                <a:solidFill>
                  <a:schemeClr val="bg1"/>
                </a:solidFill>
              </a:rPr>
              <a:t>Mathias</a:t>
            </a:r>
            <a:r>
              <a:rPr lang="es-PY" sz="2000" b="1" dirty="0">
                <a:solidFill>
                  <a:schemeClr val="bg1"/>
                </a:solidFill>
              </a:rPr>
              <a:t> Chaparro</a:t>
            </a:r>
          </a:p>
          <a:p>
            <a:r>
              <a:rPr lang="es-PY" sz="2000" b="1" dirty="0">
                <a:solidFill>
                  <a:schemeClr val="bg1"/>
                </a:solidFill>
              </a:rPr>
              <a:t>Tanya Godoy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5C36-617B-795C-5A2B-325EA34F1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1AD706-11EF-C258-EBD5-C4EEFEAAC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2816" y="457200"/>
            <a:ext cx="4837176" cy="1993392"/>
          </a:xfrm>
          <a:noFill/>
        </p:spPr>
        <p:txBody>
          <a:bodyPr rtlCol="0" anchor="b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b="1" dirty="0" err="1"/>
              <a:t>Chosen</a:t>
            </a:r>
            <a:r>
              <a:rPr lang="es-ES" b="1" dirty="0"/>
              <a:t> </a:t>
            </a:r>
            <a:r>
              <a:rPr lang="es-ES" b="1" dirty="0" err="1"/>
              <a:t>dataset</a:t>
            </a:r>
            <a:endParaRPr lang="es-ES" b="1" dirty="0"/>
          </a:p>
        </p:txBody>
      </p:sp>
      <p:pic>
        <p:nvPicPr>
          <p:cNvPr id="15" name="Marcador de posición de imagen 14">
            <a:extLst>
              <a:ext uri="{FF2B5EF4-FFF2-40B4-BE49-F238E27FC236}">
                <a16:creationId xmlns:a16="http://schemas.microsoft.com/office/drawing/2014/main" id="{E4DF753A-3575-A0D9-5135-8A94308DC0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22" r="24922"/>
          <a:stretch/>
        </p:blipFill>
        <p:spPr>
          <a:xfrm>
            <a:off x="-28882" y="0"/>
            <a:ext cx="6115050" cy="6858000"/>
          </a:xfr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92EC4A8-49EE-CF82-CFDC-BA9308ED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2818" y="2752344"/>
            <a:ext cx="4837174" cy="3136392"/>
          </a:xfrm>
          <a:noFill/>
        </p:spPr>
        <p:txBody>
          <a:bodyPr rtlCol="0" anchor="t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b="1" dirty="0" err="1"/>
              <a:t>It</a:t>
            </a:r>
            <a:r>
              <a:rPr lang="es-ES" b="1" dirty="0"/>
              <a:t> </a:t>
            </a:r>
            <a:r>
              <a:rPr lang="es-ES" b="1" dirty="0" err="1"/>
              <a:t>contains</a:t>
            </a:r>
            <a:r>
              <a:rPr lang="es-ES" dirty="0"/>
              <a:t>: </a:t>
            </a:r>
            <a:r>
              <a:rPr lang="es-ES" dirty="0" err="1"/>
              <a:t>Agricultural</a:t>
            </a:r>
            <a:r>
              <a:rPr lang="es-ES" dirty="0"/>
              <a:t> </a:t>
            </a:r>
            <a:r>
              <a:rPr lang="es-ES" dirty="0" err="1"/>
              <a:t>Loans</a:t>
            </a:r>
            <a:r>
              <a:rPr lang="es-ES" dirty="0"/>
              <a:t> </a:t>
            </a:r>
            <a:r>
              <a:rPr lang="es-ES" dirty="0" err="1"/>
              <a:t>granted</a:t>
            </a:r>
            <a:r>
              <a:rPr lang="es-ES" dirty="0"/>
              <a:t> </a:t>
            </a:r>
            <a:r>
              <a:rPr lang="es-ES" dirty="0" err="1"/>
              <a:t>by</a:t>
            </a:r>
            <a:r>
              <a:rPr lang="es-ES" dirty="0"/>
              <a:t> Banks in Paraguay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b="1" dirty="0"/>
              <a:t>2016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march</a:t>
            </a:r>
            <a:r>
              <a:rPr lang="es-ES" b="1" dirty="0"/>
              <a:t>/2025</a:t>
            </a:r>
          </a:p>
        </p:txBody>
      </p:sp>
    </p:spTree>
    <p:extLst>
      <p:ext uri="{BB962C8B-B14F-4D97-AF65-F5344CB8AC3E}">
        <p14:creationId xmlns:p14="http://schemas.microsoft.com/office/powerpoint/2010/main" val="1672017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primer plano de código informático">
            <a:extLst>
              <a:ext uri="{FF2B5EF4-FFF2-40B4-BE49-F238E27FC236}">
                <a16:creationId xmlns:a16="http://schemas.microsoft.com/office/drawing/2014/main" id="{94D43AA7-0244-2FEB-86AC-B5DECE0232D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B2F3FA79-DE26-1F2A-0CF7-5671B73C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Exploratory Data Analysis and General Visualizations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67869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9C373000-EEA1-D16F-189A-338FFDA2E7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dirty="0"/>
              <a:t>Total </a:t>
            </a:r>
            <a:r>
              <a:rPr lang="es-ES" dirty="0" err="1"/>
              <a:t>credits</a:t>
            </a:r>
            <a:r>
              <a:rPr lang="es-ES" dirty="0"/>
              <a:t> </a:t>
            </a:r>
            <a:r>
              <a:rPr lang="es-ES" dirty="0" err="1"/>
              <a:t>granted</a:t>
            </a:r>
            <a:r>
              <a:rPr lang="es-ES" dirty="0"/>
              <a:t> per </a:t>
            </a:r>
            <a:r>
              <a:rPr lang="es-ES" dirty="0" err="1"/>
              <a:t>year</a:t>
            </a:r>
            <a:endParaRPr lang="es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435D5E0-C023-BF12-7240-1709ABBB6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03" y="885825"/>
            <a:ext cx="113252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438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FCAD2-1783-DC70-090E-BA667A73B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C9210876-D85C-2066-C078-7AF49084F1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 lnSpcReduction="10000"/>
          </a:bodyPr>
          <a:lstStyle>
            <a:defPPr>
              <a:defRPr lang="es-ES"/>
            </a:defPPr>
          </a:lstStyle>
          <a:p>
            <a:pPr rtl="0"/>
            <a:r>
              <a:rPr lang="en-US" dirty="0"/>
              <a:t>Soybean harvest calendar obtained from a local private bank</a:t>
            </a: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B8BB5C7-A07E-84C3-A3B9-782BE3372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675" y="1771630"/>
            <a:ext cx="11175482" cy="4556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184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71A4C-0593-6B3E-F0A0-F753BAF7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A1D87AE6-0860-8DBE-B6A2-7E01E3A3A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0316" y="3083560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dirty="0"/>
              <a:t>Total </a:t>
            </a:r>
            <a:r>
              <a:rPr lang="es-ES" dirty="0" err="1"/>
              <a:t>credits</a:t>
            </a:r>
            <a:r>
              <a:rPr lang="es-ES" dirty="0"/>
              <a:t> </a:t>
            </a:r>
            <a:r>
              <a:rPr lang="es-ES" dirty="0" err="1"/>
              <a:t>granted</a:t>
            </a:r>
            <a:r>
              <a:rPr lang="es-ES" dirty="0"/>
              <a:t> per </a:t>
            </a:r>
            <a:r>
              <a:rPr lang="es-ES" dirty="0" err="1"/>
              <a:t>bank</a:t>
            </a:r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0BB394C-2D8B-D566-B766-8C87A4158E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9" y="0"/>
            <a:ext cx="54824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436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52632-A8CD-A990-2369-7731A66D7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3B45C25A-8B88-5719-1029-295E85A375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 lnSpcReduction="10000"/>
          </a:bodyPr>
          <a:lstStyle>
            <a:defPPr>
              <a:defRPr lang="es-ES"/>
            </a:defPPr>
          </a:lstStyle>
          <a:p>
            <a:pPr rtl="0"/>
            <a:r>
              <a:rPr lang="en-US" dirty="0"/>
              <a:t>Agricultural Loans by Currency: Local vs. Foreign</a:t>
            </a:r>
            <a:endParaRPr lang="es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1076387-D874-E89C-A495-E1E9EFE0AF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78"/>
            <a:ext cx="12192000" cy="4166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823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1B2EA-F92B-5BB6-5165-0021B511C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primer plano de código informático">
            <a:extLst>
              <a:ext uri="{FF2B5EF4-FFF2-40B4-BE49-F238E27FC236}">
                <a16:creationId xmlns:a16="http://schemas.microsoft.com/office/drawing/2014/main" id="{AB150F93-0B26-4AFF-C4FB-1B9A61D78A6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1F792493-957B-6F22-D4BC-9A79810DD6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Pandemic effect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27531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5737A-EABE-88E8-7247-6F1C5CDC2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A8417EC5-9FC3-B9B4-0FDC-5F2447A7B8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 lnSpcReduction="10000"/>
          </a:bodyPr>
          <a:lstStyle>
            <a:defPPr>
              <a:defRPr lang="es-ES"/>
            </a:defPPr>
          </a:lstStyle>
          <a:p>
            <a:pPr rtl="0"/>
            <a:r>
              <a:rPr lang="en-US" dirty="0" err="1"/>
              <a:t>PaNdemic</a:t>
            </a:r>
            <a:r>
              <a:rPr lang="en-US" dirty="0"/>
              <a:t> effect on foreign currency loans</a:t>
            </a:r>
            <a:endParaRPr lang="es-E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9ABC41-B5C7-209E-9925-DDD55A0B1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8737" y="1328738"/>
            <a:ext cx="9534525" cy="5210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7527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3D6C7-DE89-9DF7-6E0A-C634A5A2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primer plano de código informático">
            <a:extLst>
              <a:ext uri="{FF2B5EF4-FFF2-40B4-BE49-F238E27FC236}">
                <a16:creationId xmlns:a16="http://schemas.microsoft.com/office/drawing/2014/main" id="{D4A4A4F1-DD5E-AEF7-60F5-4F2294FD5C7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075CD322-8968-65AF-88BC-BA9ACA2FA3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Time Series Decomposition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8935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FCB26-EC66-8FB6-F2C2-3986701C3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9801E51D-754D-D13E-13CF-E2878D3140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n-US" dirty="0"/>
              <a:t>Trend, Seasonality, and Residuals</a:t>
            </a:r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96D8146-95DC-92B4-0D09-7791B26C1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03487"/>
            <a:ext cx="5991225" cy="45243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300D101-85E7-EC11-96A9-4539AF1266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803487"/>
            <a:ext cx="5991225" cy="452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398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7A3F9-0DBE-A15A-FF2F-762E9D0F1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4725F433-D29E-21DF-4230-346D824926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n-US" dirty="0"/>
              <a:t>Trend, Seasonality, and Residuals</a:t>
            </a:r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E17C003-5BDF-49EB-21BD-5CB9FB7EA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425" y="1946888"/>
            <a:ext cx="9782250" cy="2678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8155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5466F-DFF9-748C-C022-0409133E0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primer plano de código informático">
            <a:extLst>
              <a:ext uri="{FF2B5EF4-FFF2-40B4-BE49-F238E27FC236}">
                <a16:creationId xmlns:a16="http://schemas.microsoft.com/office/drawing/2014/main" id="{6BC7A3A8-1BBF-F4A8-706E-E88876E4415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DBFAF72A-9CB1-8E7C-B22B-92B77B8F7E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 err="1"/>
              <a:t>Acf</a:t>
            </a:r>
            <a:r>
              <a:rPr lang="en-US" dirty="0"/>
              <a:t> &amp; </a:t>
            </a:r>
            <a:r>
              <a:rPr lang="en-US" dirty="0" err="1"/>
              <a:t>pacf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871018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9427D-E3F5-D38E-EC55-AAA3119B7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89770538-667F-AA26-DAAA-3C09AA5F0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n-US" dirty="0" err="1"/>
              <a:t>Acf</a:t>
            </a:r>
            <a:r>
              <a:rPr lang="en-US" dirty="0"/>
              <a:t> &amp; </a:t>
            </a:r>
            <a:r>
              <a:rPr lang="en-US" dirty="0" err="1"/>
              <a:t>pacf</a:t>
            </a:r>
            <a:r>
              <a:rPr lang="en-US" dirty="0"/>
              <a:t> for foreign currency</a:t>
            </a:r>
            <a:endParaRPr lang="es-ES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1917BF4E-26D1-5055-1CC5-D98529105E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78"/>
          <a:stretch/>
        </p:blipFill>
        <p:spPr>
          <a:xfrm>
            <a:off x="0" y="1793332"/>
            <a:ext cx="12192000" cy="4030418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976CA7DA-88F3-7E37-F385-36957118FE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730" y="1793332"/>
            <a:ext cx="11936896" cy="3915382"/>
          </a:xfrm>
          <a:prstGeom prst="rect">
            <a:avLst/>
          </a:prstGeom>
        </p:spPr>
      </p:pic>
      <p:sp>
        <p:nvSpPr>
          <p:cNvPr id="14" name="Rectángulo 13">
            <a:extLst>
              <a:ext uri="{FF2B5EF4-FFF2-40B4-BE49-F238E27FC236}">
                <a16:creationId xmlns:a16="http://schemas.microsoft.com/office/drawing/2014/main" id="{7EF8B4E1-DA0F-DDD2-6C2A-29DD71B95C64}"/>
              </a:ext>
            </a:extLst>
          </p:cNvPr>
          <p:cNvSpPr/>
          <p:nvPr/>
        </p:nvSpPr>
        <p:spPr>
          <a:xfrm>
            <a:off x="3842039" y="3346578"/>
            <a:ext cx="219076" cy="9239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9928E8BB-7B49-B9DD-94AE-B4305557F935}"/>
              </a:ext>
            </a:extLst>
          </p:cNvPr>
          <p:cNvSpPr/>
          <p:nvPr/>
        </p:nvSpPr>
        <p:spPr>
          <a:xfrm>
            <a:off x="9782175" y="3305175"/>
            <a:ext cx="219075" cy="9239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151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7" grpId="0" animBg="1"/>
      <p:bldP spid="17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1738E-D2D7-8908-A7A2-4D6E3EABC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primer plano de código informático">
            <a:extLst>
              <a:ext uri="{FF2B5EF4-FFF2-40B4-BE49-F238E27FC236}">
                <a16:creationId xmlns:a16="http://schemas.microsoft.com/office/drawing/2014/main" id="{046388CB-E7E4-688B-8D72-7414C6DDCD4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2BCB0177-3126-1D26-B093-7A4951ABAC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forecasting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484625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53AD0-C2BB-F000-99A6-82522F854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1EBDFB09-1E90-E023-A089-E7D061A360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4938" y="254608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PY" dirty="0"/>
              <a:t>A</a:t>
            </a:r>
            <a:r>
              <a:rPr lang="en-US" dirty="0"/>
              <a:t>rima model</a:t>
            </a:r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F253E8B-BD8B-104B-62D7-1469529AF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8465" y="1417412"/>
            <a:ext cx="7039896" cy="364955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BA44A5D-6064-44C2-226D-962CBAD498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8465" y="5066962"/>
            <a:ext cx="4702072" cy="577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3489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9D6A4-F548-740D-DF0B-6D764E56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861AC1A7-F27F-420D-F5EA-7EDB865BF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4938" y="254608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PY" dirty="0"/>
              <a:t>A</a:t>
            </a:r>
            <a:r>
              <a:rPr lang="en-US" dirty="0"/>
              <a:t>rima model forecast</a:t>
            </a:r>
            <a:endParaRPr lang="es-E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DFE3900-00EB-1D56-FF1A-5612AD85A0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136" y="1084966"/>
            <a:ext cx="11621728" cy="5773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95427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CCF7C-C2F8-A219-6F2D-30F9311F8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4388C6AD-998E-A0BE-E98B-AEE7A32D71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4938" y="254608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PY" dirty="0" err="1"/>
              <a:t>sA</a:t>
            </a:r>
            <a:r>
              <a:rPr lang="en-US" dirty="0"/>
              <a:t>rima model</a:t>
            </a:r>
            <a:endParaRPr lang="es-E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2589D24-ED1A-1B6D-81FD-F3F976016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434" y="1267332"/>
            <a:ext cx="9117724" cy="540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636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A5DCD-E607-050A-625B-3CBE5C530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B8AD8299-95FF-610E-0F8A-203FD9238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86581" y="0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PY" dirty="0" err="1"/>
              <a:t>sA</a:t>
            </a:r>
            <a:r>
              <a:rPr lang="en-US" dirty="0"/>
              <a:t>rima model forecast</a:t>
            </a:r>
            <a:endParaRPr lang="es-E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A059327-FEAC-6749-E3A5-6623B349E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524" y="947226"/>
            <a:ext cx="11651596" cy="5787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9673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8C563-5512-DA4D-647F-40F51B0FC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B6F0CBD9-033B-190A-2025-079F0572EE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86581" y="0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PY" dirty="0" err="1"/>
              <a:t>sA</a:t>
            </a:r>
            <a:r>
              <a:rPr lang="en-US" dirty="0"/>
              <a:t>rima model forecast</a:t>
            </a:r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95251B1-F475-2D74-21CC-D95BD1C43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87735"/>
            <a:ext cx="12192000" cy="348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577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posición de imagen 11" descr="Un primer plano de punto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798" y="2049671"/>
            <a:ext cx="9467127" cy="2527911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 err="1"/>
              <a:t>Thank</a:t>
            </a:r>
            <a:r>
              <a:rPr lang="es-ES" dirty="0"/>
              <a:t> </a:t>
            </a:r>
            <a:r>
              <a:rPr lang="es-ES" dirty="0" err="1"/>
              <a:t>you</a:t>
            </a:r>
            <a:r>
              <a:rPr lang="es-E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in32_SL_V16" id="{C08B0D31-9878-4B86-9AA2-489D9D63805D}" vid="{DECC9CCA-8386-4D88-B03D-E024FA4FDFC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247</TotalTime>
  <Words>143</Words>
  <Application>Microsoft Office PowerPoint</Application>
  <PresentationFormat>Panorámica</PresentationFormat>
  <Paragraphs>46</Paragraphs>
  <Slides>21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7" baseType="lpstr">
      <vt:lpstr>Aptos</vt:lpstr>
      <vt:lpstr>Arial</vt:lpstr>
      <vt:lpstr>Calibri</vt:lpstr>
      <vt:lpstr>Calibri Light</vt:lpstr>
      <vt:lpstr>Wingdings</vt:lpstr>
      <vt:lpstr>Personalizar</vt:lpstr>
      <vt:lpstr>Analysis of Agricultural Loans Granted by Banks in Paraguay</vt:lpstr>
      <vt:lpstr>Chosen dataset</vt:lpstr>
      <vt:lpstr>Exploratory Data Analysis and General Visualizations</vt:lpstr>
      <vt:lpstr>Presentación de PowerPoint</vt:lpstr>
      <vt:lpstr>Presentación de PowerPoint</vt:lpstr>
      <vt:lpstr>Presentación de PowerPoint</vt:lpstr>
      <vt:lpstr>Presentación de PowerPoint</vt:lpstr>
      <vt:lpstr>Pandemic effect</vt:lpstr>
      <vt:lpstr>Presentación de PowerPoint</vt:lpstr>
      <vt:lpstr>Time Series Decomposition</vt:lpstr>
      <vt:lpstr>Presentación de PowerPoint</vt:lpstr>
      <vt:lpstr>Presentación de PowerPoint</vt:lpstr>
      <vt:lpstr>Acf &amp; pacf</vt:lpstr>
      <vt:lpstr>Presentación de PowerPoint</vt:lpstr>
      <vt:lpstr>forecasting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Tanya Godoy</dc:creator>
  <cp:lastModifiedBy>Mathias Chaparro</cp:lastModifiedBy>
  <cp:revision>5</cp:revision>
  <dcterms:created xsi:type="dcterms:W3CDTF">2024-02-14T18:56:44Z</dcterms:created>
  <dcterms:modified xsi:type="dcterms:W3CDTF">2025-05-30T21:34:47Z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